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BCDE74-720C-4AED-AC79-02F30A32AB28}" v="35" dt="2026-03-01T14:54:23.6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3969" autoAdjust="0"/>
  </p:normalViewPr>
  <p:slideViewPr>
    <p:cSldViewPr snapToGrid="0">
      <p:cViewPr varScale="1">
        <p:scale>
          <a:sx n="64" d="100"/>
          <a:sy n="64" d="100"/>
        </p:scale>
        <p:origin x="97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DE648D-E87D-48F7-ADA8-83202E30130A}" type="datetimeFigureOut">
              <a:rPr lang="en-GB" smtClean="0"/>
              <a:t>28/02/2026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7B15654-227E-49E9-B2E1-F5EB3327242A}" type="slidenum">
              <a:rPr lang="en-GB" smtClean="0"/>
              <a:t>‹#›</a:t>
            </a:fld>
            <a:endParaRPr lang="en-GB"/>
          </a:p>
        </p:txBody>
      </p:sp>
    </p:spTree>
    <p:extLst>
      <p:ext uri="{BB962C8B-B14F-4D97-AF65-F5344CB8AC3E}">
        <p14:creationId xmlns:p14="http://schemas.microsoft.com/office/powerpoint/2010/main" val="38781074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07B15654-227E-49E9-B2E1-F5EB3327242A}" type="slidenum">
              <a:rPr lang="en-GB" smtClean="0"/>
              <a:t>7</a:t>
            </a:fld>
            <a:endParaRPr lang="en-GB"/>
          </a:p>
        </p:txBody>
      </p:sp>
    </p:spTree>
    <p:extLst>
      <p:ext uri="{BB962C8B-B14F-4D97-AF65-F5344CB8AC3E}">
        <p14:creationId xmlns:p14="http://schemas.microsoft.com/office/powerpoint/2010/main" val="13088340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5881F0-628C-535B-B81C-06A8B2DEB6C3}"/>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4219A7A1-0C93-98CD-7DBA-D29C7A5E4C1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AA066ADE-0F19-DD5B-7936-0955302A6BD7}"/>
              </a:ext>
            </a:extLst>
          </p:cNvPr>
          <p:cNvSpPr>
            <a:spLocks noGrp="1"/>
          </p:cNvSpPr>
          <p:nvPr>
            <p:ph type="dt" sz="half" idx="10"/>
          </p:nvPr>
        </p:nvSpPr>
        <p:spPr/>
        <p:txBody>
          <a:bodyPr/>
          <a:lstStyle/>
          <a:p>
            <a:fld id="{1FF622CE-F4E5-4484-ACDB-FBDCD5F9434D}" type="datetimeFigureOut">
              <a:rPr lang="en-GB" smtClean="0"/>
              <a:t>28/02/2026</a:t>
            </a:fld>
            <a:endParaRPr lang="en-GB"/>
          </a:p>
        </p:txBody>
      </p:sp>
      <p:sp>
        <p:nvSpPr>
          <p:cNvPr id="5" name="Footer Placeholder 4">
            <a:extLst>
              <a:ext uri="{FF2B5EF4-FFF2-40B4-BE49-F238E27FC236}">
                <a16:creationId xmlns:a16="http://schemas.microsoft.com/office/drawing/2014/main" id="{05630DFF-4021-0800-0999-E66AB10E527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9C6B6F3-B213-68B1-5C1F-0AFD0B8F900B}"/>
              </a:ext>
            </a:extLst>
          </p:cNvPr>
          <p:cNvSpPr>
            <a:spLocks noGrp="1"/>
          </p:cNvSpPr>
          <p:nvPr>
            <p:ph type="sldNum" sz="quarter" idx="12"/>
          </p:nvPr>
        </p:nvSpPr>
        <p:spPr/>
        <p:txBody>
          <a:bodyPr/>
          <a:lstStyle/>
          <a:p>
            <a:fld id="{D3B0C5D8-ECDE-4C50-BA2B-49AAE03F8285}" type="slidenum">
              <a:rPr lang="en-GB" smtClean="0"/>
              <a:t>‹#›</a:t>
            </a:fld>
            <a:endParaRPr lang="en-GB"/>
          </a:p>
        </p:txBody>
      </p:sp>
    </p:spTree>
    <p:extLst>
      <p:ext uri="{BB962C8B-B14F-4D97-AF65-F5344CB8AC3E}">
        <p14:creationId xmlns:p14="http://schemas.microsoft.com/office/powerpoint/2010/main" val="22175206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C40552-CEDD-3DD7-AB27-3999F22FD0D8}"/>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051E15C6-29AA-35D2-DD00-DA20D72890C5}"/>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2CDBABC6-84D7-7DAB-3CD1-BC20C78ABE4A}"/>
              </a:ext>
            </a:extLst>
          </p:cNvPr>
          <p:cNvSpPr>
            <a:spLocks noGrp="1"/>
          </p:cNvSpPr>
          <p:nvPr>
            <p:ph type="dt" sz="half" idx="10"/>
          </p:nvPr>
        </p:nvSpPr>
        <p:spPr/>
        <p:txBody>
          <a:bodyPr/>
          <a:lstStyle/>
          <a:p>
            <a:fld id="{1FF622CE-F4E5-4484-ACDB-FBDCD5F9434D}" type="datetimeFigureOut">
              <a:rPr lang="en-GB" smtClean="0"/>
              <a:t>28/02/2026</a:t>
            </a:fld>
            <a:endParaRPr lang="en-GB"/>
          </a:p>
        </p:txBody>
      </p:sp>
      <p:sp>
        <p:nvSpPr>
          <p:cNvPr id="5" name="Footer Placeholder 4">
            <a:extLst>
              <a:ext uri="{FF2B5EF4-FFF2-40B4-BE49-F238E27FC236}">
                <a16:creationId xmlns:a16="http://schemas.microsoft.com/office/drawing/2014/main" id="{07AA2D94-4334-D3ED-3A1D-0EFB0E1EC8F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A02E7BB-17AC-2BF8-A7CD-A6866ED536B2}"/>
              </a:ext>
            </a:extLst>
          </p:cNvPr>
          <p:cNvSpPr>
            <a:spLocks noGrp="1"/>
          </p:cNvSpPr>
          <p:nvPr>
            <p:ph type="sldNum" sz="quarter" idx="12"/>
          </p:nvPr>
        </p:nvSpPr>
        <p:spPr/>
        <p:txBody>
          <a:bodyPr/>
          <a:lstStyle/>
          <a:p>
            <a:fld id="{D3B0C5D8-ECDE-4C50-BA2B-49AAE03F8285}" type="slidenum">
              <a:rPr lang="en-GB" smtClean="0"/>
              <a:t>‹#›</a:t>
            </a:fld>
            <a:endParaRPr lang="en-GB"/>
          </a:p>
        </p:txBody>
      </p:sp>
    </p:spTree>
    <p:extLst>
      <p:ext uri="{BB962C8B-B14F-4D97-AF65-F5344CB8AC3E}">
        <p14:creationId xmlns:p14="http://schemas.microsoft.com/office/powerpoint/2010/main" val="1703555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C9446-B62E-8D15-DA28-A8223C5F5D8C}"/>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F118600E-87C9-359E-CF8A-0AA06BC638E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6AEA991B-5F96-8FA6-22DB-28DD7B3599D7}"/>
              </a:ext>
            </a:extLst>
          </p:cNvPr>
          <p:cNvSpPr>
            <a:spLocks noGrp="1"/>
          </p:cNvSpPr>
          <p:nvPr>
            <p:ph type="dt" sz="half" idx="10"/>
          </p:nvPr>
        </p:nvSpPr>
        <p:spPr/>
        <p:txBody>
          <a:bodyPr/>
          <a:lstStyle/>
          <a:p>
            <a:fld id="{1FF622CE-F4E5-4484-ACDB-FBDCD5F9434D}" type="datetimeFigureOut">
              <a:rPr lang="en-GB" smtClean="0"/>
              <a:t>28/02/2026</a:t>
            </a:fld>
            <a:endParaRPr lang="en-GB"/>
          </a:p>
        </p:txBody>
      </p:sp>
      <p:sp>
        <p:nvSpPr>
          <p:cNvPr id="5" name="Footer Placeholder 4">
            <a:extLst>
              <a:ext uri="{FF2B5EF4-FFF2-40B4-BE49-F238E27FC236}">
                <a16:creationId xmlns:a16="http://schemas.microsoft.com/office/drawing/2014/main" id="{9A850FF5-7426-1A44-6DFC-06D9C1197C0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29BAF9D-0903-9FBB-59C0-9B8988E0E601}"/>
              </a:ext>
            </a:extLst>
          </p:cNvPr>
          <p:cNvSpPr>
            <a:spLocks noGrp="1"/>
          </p:cNvSpPr>
          <p:nvPr>
            <p:ph type="sldNum" sz="quarter" idx="12"/>
          </p:nvPr>
        </p:nvSpPr>
        <p:spPr/>
        <p:txBody>
          <a:bodyPr/>
          <a:lstStyle/>
          <a:p>
            <a:fld id="{D3B0C5D8-ECDE-4C50-BA2B-49AAE03F8285}" type="slidenum">
              <a:rPr lang="en-GB" smtClean="0"/>
              <a:t>‹#›</a:t>
            </a:fld>
            <a:endParaRPr lang="en-GB"/>
          </a:p>
        </p:txBody>
      </p:sp>
    </p:spTree>
    <p:extLst>
      <p:ext uri="{BB962C8B-B14F-4D97-AF65-F5344CB8AC3E}">
        <p14:creationId xmlns:p14="http://schemas.microsoft.com/office/powerpoint/2010/main" val="18691656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DABD0-E014-2E5D-663A-602A3CB441E4}"/>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489EE95D-0CFC-E926-2B97-800E19C00914}"/>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F94FA61F-C90F-351F-1D0B-F56579AC8E6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5D904DB3-C16A-95CA-717F-3925EDF2C40F}"/>
              </a:ext>
            </a:extLst>
          </p:cNvPr>
          <p:cNvSpPr>
            <a:spLocks noGrp="1"/>
          </p:cNvSpPr>
          <p:nvPr>
            <p:ph type="dt" sz="half" idx="10"/>
          </p:nvPr>
        </p:nvSpPr>
        <p:spPr/>
        <p:txBody>
          <a:bodyPr/>
          <a:lstStyle/>
          <a:p>
            <a:fld id="{1FF622CE-F4E5-4484-ACDB-FBDCD5F9434D}" type="datetimeFigureOut">
              <a:rPr lang="en-GB" smtClean="0"/>
              <a:t>28/02/2026</a:t>
            </a:fld>
            <a:endParaRPr lang="en-GB"/>
          </a:p>
        </p:txBody>
      </p:sp>
      <p:sp>
        <p:nvSpPr>
          <p:cNvPr id="6" name="Footer Placeholder 5">
            <a:extLst>
              <a:ext uri="{FF2B5EF4-FFF2-40B4-BE49-F238E27FC236}">
                <a16:creationId xmlns:a16="http://schemas.microsoft.com/office/drawing/2014/main" id="{240D9A7A-3688-9931-464B-F4B991CE580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9AF3FB0-4B2A-86E0-27E1-D5369C521860}"/>
              </a:ext>
            </a:extLst>
          </p:cNvPr>
          <p:cNvSpPr>
            <a:spLocks noGrp="1"/>
          </p:cNvSpPr>
          <p:nvPr>
            <p:ph type="sldNum" sz="quarter" idx="12"/>
          </p:nvPr>
        </p:nvSpPr>
        <p:spPr/>
        <p:txBody>
          <a:bodyPr/>
          <a:lstStyle/>
          <a:p>
            <a:fld id="{D3B0C5D8-ECDE-4C50-BA2B-49AAE03F8285}" type="slidenum">
              <a:rPr lang="en-GB" smtClean="0"/>
              <a:t>‹#›</a:t>
            </a:fld>
            <a:endParaRPr lang="en-GB"/>
          </a:p>
        </p:txBody>
      </p:sp>
    </p:spTree>
    <p:extLst>
      <p:ext uri="{BB962C8B-B14F-4D97-AF65-F5344CB8AC3E}">
        <p14:creationId xmlns:p14="http://schemas.microsoft.com/office/powerpoint/2010/main" val="14250390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97DF1-51AA-CBA8-CA1D-0DED2A37163A}"/>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22AD9B31-E3D0-3DBF-4C8D-F539F145010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3B2DFC7E-0752-0D08-1DE5-74501BE90B6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57DB741E-CBD7-F43A-E310-8AAB42CEFC8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BC3E891D-39DB-1034-8A4E-0D14082F1EEA}"/>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A37A4F67-4ABE-2CF6-310E-80439DE56DEB}"/>
              </a:ext>
            </a:extLst>
          </p:cNvPr>
          <p:cNvSpPr>
            <a:spLocks noGrp="1"/>
          </p:cNvSpPr>
          <p:nvPr>
            <p:ph type="dt" sz="half" idx="10"/>
          </p:nvPr>
        </p:nvSpPr>
        <p:spPr/>
        <p:txBody>
          <a:bodyPr/>
          <a:lstStyle/>
          <a:p>
            <a:fld id="{1FF622CE-F4E5-4484-ACDB-FBDCD5F9434D}" type="datetimeFigureOut">
              <a:rPr lang="en-GB" smtClean="0"/>
              <a:t>28/02/2026</a:t>
            </a:fld>
            <a:endParaRPr lang="en-GB"/>
          </a:p>
        </p:txBody>
      </p:sp>
      <p:sp>
        <p:nvSpPr>
          <p:cNvPr id="8" name="Footer Placeholder 7">
            <a:extLst>
              <a:ext uri="{FF2B5EF4-FFF2-40B4-BE49-F238E27FC236}">
                <a16:creationId xmlns:a16="http://schemas.microsoft.com/office/drawing/2014/main" id="{1EFBDDCF-6D5C-7164-415E-204C58C4EB85}"/>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675C822-E0F3-6CA7-3587-C2912FCD8490}"/>
              </a:ext>
            </a:extLst>
          </p:cNvPr>
          <p:cNvSpPr>
            <a:spLocks noGrp="1"/>
          </p:cNvSpPr>
          <p:nvPr>
            <p:ph type="sldNum" sz="quarter" idx="12"/>
          </p:nvPr>
        </p:nvSpPr>
        <p:spPr/>
        <p:txBody>
          <a:bodyPr/>
          <a:lstStyle/>
          <a:p>
            <a:fld id="{D3B0C5D8-ECDE-4C50-BA2B-49AAE03F8285}" type="slidenum">
              <a:rPr lang="en-GB" smtClean="0"/>
              <a:t>‹#›</a:t>
            </a:fld>
            <a:endParaRPr lang="en-GB"/>
          </a:p>
        </p:txBody>
      </p:sp>
    </p:spTree>
    <p:extLst>
      <p:ext uri="{BB962C8B-B14F-4D97-AF65-F5344CB8AC3E}">
        <p14:creationId xmlns:p14="http://schemas.microsoft.com/office/powerpoint/2010/main" val="23633147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199C3-9A80-6BD8-D9E9-88154B55C4AA}"/>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F9896631-8980-3E32-DA86-2AC28B1E7FEF}"/>
              </a:ext>
            </a:extLst>
          </p:cNvPr>
          <p:cNvSpPr>
            <a:spLocks noGrp="1"/>
          </p:cNvSpPr>
          <p:nvPr>
            <p:ph type="dt" sz="half" idx="10"/>
          </p:nvPr>
        </p:nvSpPr>
        <p:spPr/>
        <p:txBody>
          <a:bodyPr/>
          <a:lstStyle/>
          <a:p>
            <a:fld id="{1FF622CE-F4E5-4484-ACDB-FBDCD5F9434D}" type="datetimeFigureOut">
              <a:rPr lang="en-GB" smtClean="0"/>
              <a:t>28/02/2026</a:t>
            </a:fld>
            <a:endParaRPr lang="en-GB"/>
          </a:p>
        </p:txBody>
      </p:sp>
      <p:sp>
        <p:nvSpPr>
          <p:cNvPr id="4" name="Footer Placeholder 3">
            <a:extLst>
              <a:ext uri="{FF2B5EF4-FFF2-40B4-BE49-F238E27FC236}">
                <a16:creationId xmlns:a16="http://schemas.microsoft.com/office/drawing/2014/main" id="{FCF1BB09-0AD2-2805-4CED-1B4D5CBCE5E6}"/>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E180A663-46EA-C374-519B-8B1D1AA07B33}"/>
              </a:ext>
            </a:extLst>
          </p:cNvPr>
          <p:cNvSpPr>
            <a:spLocks noGrp="1"/>
          </p:cNvSpPr>
          <p:nvPr>
            <p:ph type="sldNum" sz="quarter" idx="12"/>
          </p:nvPr>
        </p:nvSpPr>
        <p:spPr/>
        <p:txBody>
          <a:bodyPr/>
          <a:lstStyle/>
          <a:p>
            <a:fld id="{D3B0C5D8-ECDE-4C50-BA2B-49AAE03F8285}" type="slidenum">
              <a:rPr lang="en-GB" smtClean="0"/>
              <a:t>‹#›</a:t>
            </a:fld>
            <a:endParaRPr lang="en-GB"/>
          </a:p>
        </p:txBody>
      </p:sp>
    </p:spTree>
    <p:extLst>
      <p:ext uri="{BB962C8B-B14F-4D97-AF65-F5344CB8AC3E}">
        <p14:creationId xmlns:p14="http://schemas.microsoft.com/office/powerpoint/2010/main" val="566413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EC4D2D5-E38E-B2E4-9B80-9FCC8273C57D}"/>
              </a:ext>
            </a:extLst>
          </p:cNvPr>
          <p:cNvSpPr>
            <a:spLocks noGrp="1"/>
          </p:cNvSpPr>
          <p:nvPr>
            <p:ph type="dt" sz="half" idx="10"/>
          </p:nvPr>
        </p:nvSpPr>
        <p:spPr/>
        <p:txBody>
          <a:bodyPr/>
          <a:lstStyle/>
          <a:p>
            <a:fld id="{1FF622CE-F4E5-4484-ACDB-FBDCD5F9434D}" type="datetimeFigureOut">
              <a:rPr lang="en-GB" smtClean="0"/>
              <a:t>28/02/2026</a:t>
            </a:fld>
            <a:endParaRPr lang="en-GB"/>
          </a:p>
        </p:txBody>
      </p:sp>
      <p:sp>
        <p:nvSpPr>
          <p:cNvPr id="3" name="Footer Placeholder 2">
            <a:extLst>
              <a:ext uri="{FF2B5EF4-FFF2-40B4-BE49-F238E27FC236}">
                <a16:creationId xmlns:a16="http://schemas.microsoft.com/office/drawing/2014/main" id="{2A8D5DC5-23BD-6B0B-1FA9-7219CF84C31F}"/>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5B16ECFB-79D3-0344-8F40-EAF8C3AB9E26}"/>
              </a:ext>
            </a:extLst>
          </p:cNvPr>
          <p:cNvSpPr>
            <a:spLocks noGrp="1"/>
          </p:cNvSpPr>
          <p:nvPr>
            <p:ph type="sldNum" sz="quarter" idx="12"/>
          </p:nvPr>
        </p:nvSpPr>
        <p:spPr/>
        <p:txBody>
          <a:bodyPr/>
          <a:lstStyle/>
          <a:p>
            <a:fld id="{D3B0C5D8-ECDE-4C50-BA2B-49AAE03F8285}" type="slidenum">
              <a:rPr lang="en-GB" smtClean="0"/>
              <a:t>‹#›</a:t>
            </a:fld>
            <a:endParaRPr lang="en-GB"/>
          </a:p>
        </p:txBody>
      </p:sp>
    </p:spTree>
    <p:extLst>
      <p:ext uri="{BB962C8B-B14F-4D97-AF65-F5344CB8AC3E}">
        <p14:creationId xmlns:p14="http://schemas.microsoft.com/office/powerpoint/2010/main" val="21983250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5A0722-85BD-A434-650B-A11F10D37D77}"/>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FE4672A4-8774-1D0C-46D0-FF0BF6A55D3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42623B2A-473F-3136-BAC8-8F1FB35E8F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B833E11-6399-4CEE-9D53-11D0DCF299CD}"/>
              </a:ext>
            </a:extLst>
          </p:cNvPr>
          <p:cNvSpPr>
            <a:spLocks noGrp="1"/>
          </p:cNvSpPr>
          <p:nvPr>
            <p:ph type="dt" sz="half" idx="10"/>
          </p:nvPr>
        </p:nvSpPr>
        <p:spPr/>
        <p:txBody>
          <a:bodyPr/>
          <a:lstStyle/>
          <a:p>
            <a:fld id="{1FF622CE-F4E5-4484-ACDB-FBDCD5F9434D}" type="datetimeFigureOut">
              <a:rPr lang="en-GB" smtClean="0"/>
              <a:t>28/02/2026</a:t>
            </a:fld>
            <a:endParaRPr lang="en-GB"/>
          </a:p>
        </p:txBody>
      </p:sp>
      <p:sp>
        <p:nvSpPr>
          <p:cNvPr id="6" name="Footer Placeholder 5">
            <a:extLst>
              <a:ext uri="{FF2B5EF4-FFF2-40B4-BE49-F238E27FC236}">
                <a16:creationId xmlns:a16="http://schemas.microsoft.com/office/drawing/2014/main" id="{83DB92D6-F310-545A-08C4-582C40FB74F1}"/>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F27245C-EF4A-358F-7863-BE7ADF02DF59}"/>
              </a:ext>
            </a:extLst>
          </p:cNvPr>
          <p:cNvSpPr>
            <a:spLocks noGrp="1"/>
          </p:cNvSpPr>
          <p:nvPr>
            <p:ph type="sldNum" sz="quarter" idx="12"/>
          </p:nvPr>
        </p:nvSpPr>
        <p:spPr/>
        <p:txBody>
          <a:bodyPr/>
          <a:lstStyle/>
          <a:p>
            <a:fld id="{D3B0C5D8-ECDE-4C50-BA2B-49AAE03F8285}" type="slidenum">
              <a:rPr lang="en-GB" smtClean="0"/>
              <a:t>‹#›</a:t>
            </a:fld>
            <a:endParaRPr lang="en-GB"/>
          </a:p>
        </p:txBody>
      </p:sp>
    </p:spTree>
    <p:extLst>
      <p:ext uri="{BB962C8B-B14F-4D97-AF65-F5344CB8AC3E}">
        <p14:creationId xmlns:p14="http://schemas.microsoft.com/office/powerpoint/2010/main" val="25240452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F7973-FC99-2846-3DAD-B27D297941EB}"/>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1E733621-ADCA-715E-A1C6-3751D8B9543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E112F47A-BD5F-BBA2-3F7E-9ABC069681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393CB43-4AC5-6722-C2F6-84F4663DD775}"/>
              </a:ext>
            </a:extLst>
          </p:cNvPr>
          <p:cNvSpPr>
            <a:spLocks noGrp="1"/>
          </p:cNvSpPr>
          <p:nvPr>
            <p:ph type="dt" sz="half" idx="10"/>
          </p:nvPr>
        </p:nvSpPr>
        <p:spPr/>
        <p:txBody>
          <a:bodyPr/>
          <a:lstStyle/>
          <a:p>
            <a:fld id="{1FF622CE-F4E5-4484-ACDB-FBDCD5F9434D}" type="datetimeFigureOut">
              <a:rPr lang="en-GB" smtClean="0"/>
              <a:t>28/02/2026</a:t>
            </a:fld>
            <a:endParaRPr lang="en-GB"/>
          </a:p>
        </p:txBody>
      </p:sp>
      <p:sp>
        <p:nvSpPr>
          <p:cNvPr id="6" name="Footer Placeholder 5">
            <a:extLst>
              <a:ext uri="{FF2B5EF4-FFF2-40B4-BE49-F238E27FC236}">
                <a16:creationId xmlns:a16="http://schemas.microsoft.com/office/drawing/2014/main" id="{5F48F8E2-0C05-0B3A-5D7A-41C51A1623C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A4B697A-ECB0-92EE-888F-28CD4DA6C8AC}"/>
              </a:ext>
            </a:extLst>
          </p:cNvPr>
          <p:cNvSpPr>
            <a:spLocks noGrp="1"/>
          </p:cNvSpPr>
          <p:nvPr>
            <p:ph type="sldNum" sz="quarter" idx="12"/>
          </p:nvPr>
        </p:nvSpPr>
        <p:spPr/>
        <p:txBody>
          <a:bodyPr/>
          <a:lstStyle/>
          <a:p>
            <a:fld id="{D3B0C5D8-ECDE-4C50-BA2B-49AAE03F8285}" type="slidenum">
              <a:rPr lang="en-GB" smtClean="0"/>
              <a:t>‹#›</a:t>
            </a:fld>
            <a:endParaRPr lang="en-GB"/>
          </a:p>
        </p:txBody>
      </p:sp>
    </p:spTree>
    <p:extLst>
      <p:ext uri="{BB962C8B-B14F-4D97-AF65-F5344CB8AC3E}">
        <p14:creationId xmlns:p14="http://schemas.microsoft.com/office/powerpoint/2010/main" val="11214890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8A3A98-0ECC-CBD1-F9B9-319D974A879F}"/>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ABE967CC-241A-BFF7-0335-0CC197D93C39}"/>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CF6BDC4D-5E9C-DD1E-D980-05BD57FE38A9}"/>
              </a:ext>
            </a:extLst>
          </p:cNvPr>
          <p:cNvSpPr>
            <a:spLocks noGrp="1"/>
          </p:cNvSpPr>
          <p:nvPr>
            <p:ph type="dt" sz="half" idx="10"/>
          </p:nvPr>
        </p:nvSpPr>
        <p:spPr/>
        <p:txBody>
          <a:bodyPr/>
          <a:lstStyle/>
          <a:p>
            <a:fld id="{1FF622CE-F4E5-4484-ACDB-FBDCD5F9434D}" type="datetimeFigureOut">
              <a:rPr lang="en-GB" smtClean="0"/>
              <a:t>28/02/2026</a:t>
            </a:fld>
            <a:endParaRPr lang="en-GB"/>
          </a:p>
        </p:txBody>
      </p:sp>
      <p:sp>
        <p:nvSpPr>
          <p:cNvPr id="5" name="Footer Placeholder 4">
            <a:extLst>
              <a:ext uri="{FF2B5EF4-FFF2-40B4-BE49-F238E27FC236}">
                <a16:creationId xmlns:a16="http://schemas.microsoft.com/office/drawing/2014/main" id="{BC44903F-AF6F-4BCF-7385-9871E0EFBA0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0AB909FF-34C7-758D-6AC0-BACFD5B7B2E2}"/>
              </a:ext>
            </a:extLst>
          </p:cNvPr>
          <p:cNvSpPr>
            <a:spLocks noGrp="1"/>
          </p:cNvSpPr>
          <p:nvPr>
            <p:ph type="sldNum" sz="quarter" idx="12"/>
          </p:nvPr>
        </p:nvSpPr>
        <p:spPr/>
        <p:txBody>
          <a:bodyPr/>
          <a:lstStyle/>
          <a:p>
            <a:fld id="{D3B0C5D8-ECDE-4C50-BA2B-49AAE03F8285}" type="slidenum">
              <a:rPr lang="en-GB" smtClean="0"/>
              <a:t>‹#›</a:t>
            </a:fld>
            <a:endParaRPr lang="en-GB"/>
          </a:p>
        </p:txBody>
      </p:sp>
    </p:spTree>
    <p:extLst>
      <p:ext uri="{BB962C8B-B14F-4D97-AF65-F5344CB8AC3E}">
        <p14:creationId xmlns:p14="http://schemas.microsoft.com/office/powerpoint/2010/main" val="34017712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4140A06-BA50-9FA8-6929-DB2DD59274C5}"/>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676E9CAD-D289-CAB9-5ADE-792D8716653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3FB18E0-C72C-4348-E23F-DDCE7DFA80AB}"/>
              </a:ext>
            </a:extLst>
          </p:cNvPr>
          <p:cNvSpPr>
            <a:spLocks noGrp="1"/>
          </p:cNvSpPr>
          <p:nvPr>
            <p:ph type="dt" sz="half" idx="10"/>
          </p:nvPr>
        </p:nvSpPr>
        <p:spPr/>
        <p:txBody>
          <a:bodyPr/>
          <a:lstStyle/>
          <a:p>
            <a:fld id="{1FF622CE-F4E5-4484-ACDB-FBDCD5F9434D}" type="datetimeFigureOut">
              <a:rPr lang="en-GB" smtClean="0"/>
              <a:t>28/02/2026</a:t>
            </a:fld>
            <a:endParaRPr lang="en-GB"/>
          </a:p>
        </p:txBody>
      </p:sp>
      <p:sp>
        <p:nvSpPr>
          <p:cNvPr id="5" name="Footer Placeholder 4">
            <a:extLst>
              <a:ext uri="{FF2B5EF4-FFF2-40B4-BE49-F238E27FC236}">
                <a16:creationId xmlns:a16="http://schemas.microsoft.com/office/drawing/2014/main" id="{5D62ACF2-E64E-DC39-30BC-9DF5AF2C2BA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CDDA055-CF8F-8799-489A-A83B93578E18}"/>
              </a:ext>
            </a:extLst>
          </p:cNvPr>
          <p:cNvSpPr>
            <a:spLocks noGrp="1"/>
          </p:cNvSpPr>
          <p:nvPr>
            <p:ph type="sldNum" sz="quarter" idx="12"/>
          </p:nvPr>
        </p:nvSpPr>
        <p:spPr/>
        <p:txBody>
          <a:bodyPr/>
          <a:lstStyle/>
          <a:p>
            <a:fld id="{D3B0C5D8-ECDE-4C50-BA2B-49AAE03F8285}" type="slidenum">
              <a:rPr lang="en-GB" smtClean="0"/>
              <a:t>‹#›</a:t>
            </a:fld>
            <a:endParaRPr lang="en-GB"/>
          </a:p>
        </p:txBody>
      </p:sp>
    </p:spTree>
    <p:extLst>
      <p:ext uri="{BB962C8B-B14F-4D97-AF65-F5344CB8AC3E}">
        <p14:creationId xmlns:p14="http://schemas.microsoft.com/office/powerpoint/2010/main" val="4779379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299B123-3E9B-3475-D958-E034792D0A1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3D7FA140-8407-59F8-B11E-D8E54F788F8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8B07950C-10CB-72C6-6E1D-4EBC390BA0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F622CE-F4E5-4484-ACDB-FBDCD5F9434D}" type="datetimeFigureOut">
              <a:rPr lang="en-GB" smtClean="0"/>
              <a:t>28/02/2026</a:t>
            </a:fld>
            <a:endParaRPr lang="en-GB"/>
          </a:p>
        </p:txBody>
      </p:sp>
      <p:sp>
        <p:nvSpPr>
          <p:cNvPr id="5" name="Footer Placeholder 4">
            <a:extLst>
              <a:ext uri="{FF2B5EF4-FFF2-40B4-BE49-F238E27FC236}">
                <a16:creationId xmlns:a16="http://schemas.microsoft.com/office/drawing/2014/main" id="{571A5712-CD03-C6CF-F3AD-5E12B105E0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554547AA-2851-1DB2-09E6-AE80B9CFE81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B0C5D8-ECDE-4C50-BA2B-49AAE03F8285}" type="slidenum">
              <a:rPr lang="en-GB" smtClean="0"/>
              <a:t>‹#›</a:t>
            </a:fld>
            <a:endParaRPr lang="en-GB"/>
          </a:p>
        </p:txBody>
      </p:sp>
    </p:spTree>
    <p:extLst>
      <p:ext uri="{BB962C8B-B14F-4D97-AF65-F5344CB8AC3E}">
        <p14:creationId xmlns:p14="http://schemas.microsoft.com/office/powerpoint/2010/main" val="195688572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7">
            <a:extLst>
              <a:ext uri="{FF2B5EF4-FFF2-40B4-BE49-F238E27FC236}">
                <a16:creationId xmlns:a16="http://schemas.microsoft.com/office/drawing/2014/main" id="{FFD48BC7-DC40-47DE-87EE-9F4B6ECB9A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Freeform: Shape 9">
            <a:extLst>
              <a:ext uri="{FF2B5EF4-FFF2-40B4-BE49-F238E27FC236}">
                <a16:creationId xmlns:a16="http://schemas.microsoft.com/office/drawing/2014/main" id="{E502BBC7-2C76-46F3-BC24-5985BC13DB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4425" y="0"/>
            <a:ext cx="9963150"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solidFill>
              <a:srgbClr val="EFEFEF"/>
            </a:solidFill>
          </a:ln>
          <a:effectLst>
            <a:outerShdw blurRad="139700" sx="102000" sy="102000" algn="ctr" rotWithShape="0">
              <a:schemeClr val="bg1">
                <a:lumMod val="85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1" name="Freeform: Shape 11">
            <a:extLst>
              <a:ext uri="{FF2B5EF4-FFF2-40B4-BE49-F238E27FC236}">
                <a16:creationId xmlns:a16="http://schemas.microsoft.com/office/drawing/2014/main" id="{C7F28D52-2A5F-4D23-81AE-7CB8B591C7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1664" y="0"/>
            <a:ext cx="9948672" cy="6858000"/>
          </a:xfrm>
          <a:custGeom>
            <a:avLst/>
            <a:gdLst>
              <a:gd name="connsiteX0" fmla="*/ 1595771 w 9963150"/>
              <a:gd name="connsiteY0" fmla="*/ 0 h 6858000"/>
              <a:gd name="connsiteX1" fmla="*/ 8367379 w 9963150"/>
              <a:gd name="connsiteY1" fmla="*/ 0 h 6858000"/>
              <a:gd name="connsiteX2" fmla="*/ 8504080 w 9963150"/>
              <a:gd name="connsiteY2" fmla="*/ 130333 h 6858000"/>
              <a:gd name="connsiteX3" fmla="*/ 9963150 w 9963150"/>
              <a:gd name="connsiteY3" fmla="*/ 3652838 h 6858000"/>
              <a:gd name="connsiteX4" fmla="*/ 8825600 w 9963150"/>
              <a:gd name="connsiteY4" fmla="*/ 6821583 h 6858000"/>
              <a:gd name="connsiteX5" fmla="*/ 8794055 w 9963150"/>
              <a:gd name="connsiteY5" fmla="*/ 6858000 h 6858000"/>
              <a:gd name="connsiteX6" fmla="*/ 1169096 w 9963150"/>
              <a:gd name="connsiteY6" fmla="*/ 6858000 h 6858000"/>
              <a:gd name="connsiteX7" fmla="*/ 1137550 w 9963150"/>
              <a:gd name="connsiteY7" fmla="*/ 6821583 h 6858000"/>
              <a:gd name="connsiteX8" fmla="*/ 0 w 9963150"/>
              <a:gd name="connsiteY8" fmla="*/ 3652838 h 6858000"/>
              <a:gd name="connsiteX9" fmla="*/ 1459070 w 9963150"/>
              <a:gd name="connsiteY9" fmla="*/ 1303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63150" h="6858000">
                <a:moveTo>
                  <a:pt x="1595771" y="0"/>
                </a:moveTo>
                <a:lnTo>
                  <a:pt x="8367379" y="0"/>
                </a:lnTo>
                <a:lnTo>
                  <a:pt x="8504080" y="130333"/>
                </a:lnTo>
                <a:cubicBezTo>
                  <a:pt x="9405568" y="1031820"/>
                  <a:pt x="9963150" y="2277214"/>
                  <a:pt x="9963150" y="3652838"/>
                </a:cubicBezTo>
                <a:cubicBezTo>
                  <a:pt x="9963150" y="4856509"/>
                  <a:pt x="9536251" y="5960473"/>
                  <a:pt x="8825600" y="6821583"/>
                </a:cubicBezTo>
                <a:lnTo>
                  <a:pt x="8794055" y="6858000"/>
                </a:lnTo>
                <a:lnTo>
                  <a:pt x="1169096" y="6858000"/>
                </a:lnTo>
                <a:lnTo>
                  <a:pt x="1137550" y="6821583"/>
                </a:lnTo>
                <a:cubicBezTo>
                  <a:pt x="426899" y="5960473"/>
                  <a:pt x="0" y="4856509"/>
                  <a:pt x="0" y="3652838"/>
                </a:cubicBezTo>
                <a:cubicBezTo>
                  <a:pt x="0" y="2277214"/>
                  <a:pt x="557582" y="1031820"/>
                  <a:pt x="1459070" y="130333"/>
                </a:cubicBez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8E1D76B-0F5C-995F-42EC-2589EDEC732B}"/>
              </a:ext>
            </a:extLst>
          </p:cNvPr>
          <p:cNvSpPr>
            <a:spLocks noGrp="1"/>
          </p:cNvSpPr>
          <p:nvPr>
            <p:ph type="ctrTitle"/>
          </p:nvPr>
        </p:nvSpPr>
        <p:spPr>
          <a:xfrm>
            <a:off x="1524003" y="1999615"/>
            <a:ext cx="9144000" cy="2764028"/>
          </a:xfrm>
        </p:spPr>
        <p:txBody>
          <a:bodyPr anchor="ctr">
            <a:normAutofit/>
          </a:bodyPr>
          <a:lstStyle/>
          <a:p>
            <a:r>
              <a:rPr lang="en-GB" sz="4500" b="1">
                <a:latin typeface="Times New Roman" panose="02020603050405020304" pitchFamily="18" charset="0"/>
                <a:cs typeface="Times New Roman" panose="02020603050405020304" pitchFamily="18" charset="0"/>
              </a:rPr>
              <a:t>RETAIL SALES PERFORMANCE ANALYSIS: DISCOUNT IMPACT ON PROFITABILITY  </a:t>
            </a:r>
          </a:p>
        </p:txBody>
      </p:sp>
      <p:sp>
        <p:nvSpPr>
          <p:cNvPr id="3" name="Subtitle 2">
            <a:extLst>
              <a:ext uri="{FF2B5EF4-FFF2-40B4-BE49-F238E27FC236}">
                <a16:creationId xmlns:a16="http://schemas.microsoft.com/office/drawing/2014/main" id="{650D8936-A515-0029-1DC1-CF3BCC5913EE}"/>
              </a:ext>
            </a:extLst>
          </p:cNvPr>
          <p:cNvSpPr>
            <a:spLocks noGrp="1"/>
          </p:cNvSpPr>
          <p:nvPr>
            <p:ph type="subTitle" idx="1"/>
          </p:nvPr>
        </p:nvSpPr>
        <p:spPr>
          <a:xfrm>
            <a:off x="1966912" y="5645150"/>
            <a:ext cx="8258176" cy="631825"/>
          </a:xfrm>
        </p:spPr>
        <p:txBody>
          <a:bodyPr anchor="ctr">
            <a:normAutofit/>
          </a:bodyPr>
          <a:lstStyle/>
          <a:p>
            <a:r>
              <a:rPr lang="en-GB" sz="1800"/>
              <a:t>Executive Dashboard tracking KPIs, Sales, Trends, Category, Regional and Top Performers Insights.</a:t>
            </a:r>
          </a:p>
        </p:txBody>
      </p:sp>
      <p:sp>
        <p:nvSpPr>
          <p:cNvPr id="22" name="Rectangle 13">
            <a:extLst>
              <a:ext uri="{FF2B5EF4-FFF2-40B4-BE49-F238E27FC236}">
                <a16:creationId xmlns:a16="http://schemas.microsoft.com/office/drawing/2014/main" id="{3629484E-3792-4B3D-89AD-7C8A1ED0E0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718560" y="5524786"/>
            <a:ext cx="4754880" cy="2743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293003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CD6400B-97F2-3600-0014-4C21200137CE}"/>
              </a:ext>
            </a:extLst>
          </p:cNvPr>
          <p:cNvSpPr txBox="1"/>
          <p:nvPr/>
        </p:nvSpPr>
        <p:spPr>
          <a:xfrm>
            <a:off x="794713" y="837926"/>
            <a:ext cx="10641246" cy="2677656"/>
          </a:xfrm>
          <a:prstGeom prst="rect">
            <a:avLst/>
          </a:prstGeom>
          <a:noFill/>
        </p:spPr>
        <p:txBody>
          <a:bodyPr wrap="square" rtlCol="0">
            <a:spAutoFit/>
          </a:bodyPr>
          <a:lstStyle/>
          <a:p>
            <a:pPr algn="just"/>
            <a:r>
              <a:rPr lang="en-GB" sz="2800" dirty="0"/>
              <a:t>This project explores retail sales data to evaluate revenue, profit, and </a:t>
            </a:r>
          </a:p>
          <a:p>
            <a:pPr algn="just"/>
            <a:r>
              <a:rPr lang="en-GB" sz="2800" dirty="0"/>
              <a:t>the impact of discount levels on profitability. Using Power BI, interactive</a:t>
            </a:r>
          </a:p>
          <a:p>
            <a:pPr algn="just"/>
            <a:r>
              <a:rPr lang="en-GB" sz="2800" dirty="0"/>
              <a:t>visuals were created to analyse trends across categories, regions and</a:t>
            </a:r>
          </a:p>
          <a:p>
            <a:pPr algn="just"/>
            <a:r>
              <a:rPr lang="en-GB" sz="2800" dirty="0"/>
              <a:t>discount bands. The analysis aims to identify critical discounts </a:t>
            </a:r>
          </a:p>
          <a:p>
            <a:pPr algn="just"/>
            <a:r>
              <a:rPr lang="en-GB" sz="2800" dirty="0"/>
              <a:t>thresholds where profit declines and provide insights to support better </a:t>
            </a:r>
          </a:p>
          <a:p>
            <a:pPr algn="just"/>
            <a:r>
              <a:rPr lang="en-GB" sz="2800" dirty="0"/>
              <a:t>pricing and business decision-making.  </a:t>
            </a:r>
          </a:p>
        </p:txBody>
      </p:sp>
    </p:spTree>
    <p:extLst>
      <p:ext uri="{BB962C8B-B14F-4D97-AF65-F5344CB8AC3E}">
        <p14:creationId xmlns:p14="http://schemas.microsoft.com/office/powerpoint/2010/main" val="2146520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BA395-5982-AD5F-ABB2-3ABBF3EC23B7}"/>
              </a:ext>
            </a:extLst>
          </p:cNvPr>
          <p:cNvSpPr>
            <a:spLocks noGrp="1"/>
          </p:cNvSpPr>
          <p:nvPr>
            <p:ph type="title"/>
          </p:nvPr>
        </p:nvSpPr>
        <p:spPr>
          <a:xfrm>
            <a:off x="583367" y="1594318"/>
            <a:ext cx="10515600" cy="1325563"/>
          </a:xfrm>
        </p:spPr>
        <p:txBody>
          <a:bodyPr>
            <a:normAutofit fontScale="90000"/>
          </a:bodyPr>
          <a:lstStyle/>
          <a:p>
            <a:br>
              <a:rPr lang="en-GB" sz="4900" b="1" dirty="0">
                <a:latin typeface="Times New Roman" panose="02020603050405020304" pitchFamily="18" charset="0"/>
                <a:cs typeface="Times New Roman" panose="02020603050405020304" pitchFamily="18" charset="0"/>
              </a:rPr>
            </a:br>
            <a:br>
              <a:rPr lang="en-GB" sz="4900" b="1" dirty="0">
                <a:latin typeface="Times New Roman" panose="02020603050405020304" pitchFamily="18" charset="0"/>
                <a:cs typeface="Times New Roman" panose="02020603050405020304" pitchFamily="18" charset="0"/>
              </a:rPr>
            </a:br>
            <a:br>
              <a:rPr lang="en-GB" sz="4900" b="1" dirty="0">
                <a:latin typeface="Times New Roman" panose="02020603050405020304" pitchFamily="18" charset="0"/>
                <a:cs typeface="Times New Roman" panose="02020603050405020304" pitchFamily="18" charset="0"/>
              </a:rPr>
            </a:br>
            <a:r>
              <a:rPr lang="en-GB" sz="4900" b="1" dirty="0">
                <a:latin typeface="Times New Roman" panose="02020603050405020304" pitchFamily="18" charset="0"/>
                <a:cs typeface="Times New Roman" panose="02020603050405020304" pitchFamily="18" charset="0"/>
              </a:rPr>
              <a:t>DATA OVERVIEW</a:t>
            </a:r>
            <a:br>
              <a:rPr lang="en-GB" sz="4900" b="1" dirty="0">
                <a:latin typeface="Times New Roman" panose="02020603050405020304" pitchFamily="18" charset="0"/>
                <a:cs typeface="Times New Roman" panose="02020603050405020304" pitchFamily="18" charset="0"/>
              </a:rPr>
            </a:br>
            <a:br>
              <a:rPr lang="en-GB" sz="4900" b="1" dirty="0">
                <a:latin typeface="Times New Roman" panose="02020603050405020304" pitchFamily="18" charset="0"/>
                <a:cs typeface="Times New Roman" panose="02020603050405020304" pitchFamily="18" charset="0"/>
              </a:rPr>
            </a:br>
            <a:r>
              <a:rPr lang="en-GB" sz="2800" dirty="0">
                <a:latin typeface="Times New Roman" panose="02020603050405020304" pitchFamily="18" charset="0"/>
                <a:cs typeface="Times New Roman" panose="02020603050405020304" pitchFamily="18" charset="0"/>
              </a:rPr>
              <a:t>Purpose: To analyse how discounts influence sales revenue and profitability in retail.</a:t>
            </a:r>
            <a:br>
              <a:rPr lang="en-GB" sz="2800" dirty="0">
                <a:latin typeface="Times New Roman" panose="02020603050405020304" pitchFamily="18" charset="0"/>
                <a:cs typeface="Times New Roman" panose="02020603050405020304" pitchFamily="18" charset="0"/>
              </a:rPr>
            </a:br>
            <a:br>
              <a:rPr lang="en-GB" sz="2800" dirty="0">
                <a:latin typeface="Times New Roman" panose="02020603050405020304" pitchFamily="18" charset="0"/>
                <a:cs typeface="Times New Roman" panose="02020603050405020304" pitchFamily="18" charset="0"/>
              </a:rPr>
            </a:br>
            <a:r>
              <a:rPr lang="en-GB" sz="2800" dirty="0">
                <a:latin typeface="Times New Roman" panose="02020603050405020304" pitchFamily="18" charset="0"/>
                <a:cs typeface="Times New Roman" panose="02020603050405020304" pitchFamily="18" charset="0"/>
              </a:rPr>
              <a:t>Size &amp; scope: Contains transactional data for products sold over a specific period. </a:t>
            </a:r>
            <a:br>
              <a:rPr lang="en-GB" sz="2800" dirty="0">
                <a:latin typeface="Times New Roman" panose="02020603050405020304" pitchFamily="18" charset="0"/>
                <a:cs typeface="Times New Roman" panose="02020603050405020304" pitchFamily="18" charset="0"/>
              </a:rPr>
            </a:br>
            <a:br>
              <a:rPr lang="en-GB" sz="2800" dirty="0">
                <a:latin typeface="Times New Roman" panose="02020603050405020304" pitchFamily="18" charset="0"/>
                <a:cs typeface="Times New Roman" panose="02020603050405020304" pitchFamily="18" charset="0"/>
              </a:rPr>
            </a:br>
            <a:r>
              <a:rPr lang="en-GB" sz="2800" dirty="0">
                <a:latin typeface="Times New Roman" panose="02020603050405020304" pitchFamily="18" charset="0"/>
                <a:cs typeface="Times New Roman" panose="02020603050405020304" pitchFamily="18" charset="0"/>
              </a:rPr>
              <a:t>Type of data: Mixed- numerical(sales, profit, discount), categorical(product, region), data/time(transactional data). </a:t>
            </a:r>
            <a:br>
              <a:rPr lang="en-GB" sz="2800" dirty="0">
                <a:latin typeface="Times New Roman" panose="02020603050405020304" pitchFamily="18" charset="0"/>
                <a:cs typeface="Times New Roman" panose="02020603050405020304" pitchFamily="18" charset="0"/>
              </a:rPr>
            </a:br>
            <a:br>
              <a:rPr lang="en-GB" sz="2800" dirty="0">
                <a:latin typeface="Times New Roman" panose="02020603050405020304" pitchFamily="18" charset="0"/>
                <a:cs typeface="Times New Roman" panose="02020603050405020304" pitchFamily="18" charset="0"/>
              </a:rPr>
            </a:br>
            <a:r>
              <a:rPr lang="en-GB" sz="2800" dirty="0">
                <a:latin typeface="Times New Roman" panose="02020603050405020304" pitchFamily="18" charset="0"/>
                <a:cs typeface="Times New Roman" panose="02020603050405020304" pitchFamily="18" charset="0"/>
              </a:rPr>
              <a:t>Source: Shared by examiner for the purpose of this project.</a:t>
            </a:r>
            <a:br>
              <a:rPr lang="en-GB" dirty="0"/>
            </a:br>
            <a:endParaRPr lang="en-GB" dirty="0"/>
          </a:p>
        </p:txBody>
      </p:sp>
    </p:spTree>
    <p:extLst>
      <p:ext uri="{BB962C8B-B14F-4D97-AF65-F5344CB8AC3E}">
        <p14:creationId xmlns:p14="http://schemas.microsoft.com/office/powerpoint/2010/main" val="59459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9F15A36-08A6-BF71-3544-9A25B0554E77}"/>
              </a:ext>
            </a:extLst>
          </p:cNvPr>
          <p:cNvSpPr txBox="1"/>
          <p:nvPr/>
        </p:nvSpPr>
        <p:spPr>
          <a:xfrm>
            <a:off x="824457" y="899410"/>
            <a:ext cx="6011057" cy="5262979"/>
          </a:xfrm>
          <a:prstGeom prst="rect">
            <a:avLst/>
          </a:prstGeom>
          <a:noFill/>
        </p:spPr>
        <p:txBody>
          <a:bodyPr wrap="square" rtlCol="0">
            <a:spAutoFit/>
          </a:bodyPr>
          <a:lstStyle/>
          <a:p>
            <a:r>
              <a:rPr lang="en-GB" sz="4400" b="1" dirty="0">
                <a:latin typeface="Times New Roman" panose="02020603050405020304" pitchFamily="18" charset="0"/>
                <a:cs typeface="Times New Roman" panose="02020603050405020304" pitchFamily="18" charset="0"/>
              </a:rPr>
              <a:t>KEY FIELDS</a:t>
            </a:r>
          </a:p>
          <a:p>
            <a:endParaRPr lang="en-GB" sz="2800" b="1" dirty="0">
              <a:latin typeface="Times New Roman" panose="02020603050405020304" pitchFamily="18" charset="0"/>
              <a:cs typeface="Times New Roman" panose="02020603050405020304" pitchFamily="18" charset="0"/>
            </a:endParaRPr>
          </a:p>
          <a:p>
            <a:r>
              <a:rPr lang="en-GB" sz="2400" dirty="0">
                <a:latin typeface="Times New Roman" panose="02020603050405020304" pitchFamily="18" charset="0"/>
                <a:cs typeface="Times New Roman" panose="02020603050405020304" pitchFamily="18" charset="0"/>
              </a:rPr>
              <a:t>Profits: profit earned from the sale</a:t>
            </a:r>
          </a:p>
          <a:p>
            <a:endParaRPr lang="en-GB" sz="2400" dirty="0">
              <a:latin typeface="Times New Roman" panose="02020603050405020304" pitchFamily="18" charset="0"/>
              <a:cs typeface="Times New Roman" panose="02020603050405020304" pitchFamily="18" charset="0"/>
            </a:endParaRPr>
          </a:p>
          <a:p>
            <a:r>
              <a:rPr lang="en-GB" sz="2400" dirty="0" err="1">
                <a:latin typeface="Times New Roman" panose="02020603050405020304" pitchFamily="18" charset="0"/>
                <a:cs typeface="Times New Roman" panose="02020603050405020304" pitchFamily="18" charset="0"/>
              </a:rPr>
              <a:t>Order_Date</a:t>
            </a:r>
            <a:r>
              <a:rPr lang="en-GB" sz="2400" dirty="0">
                <a:latin typeface="Times New Roman" panose="02020603050405020304" pitchFamily="18" charset="0"/>
                <a:cs typeface="Times New Roman" panose="02020603050405020304" pitchFamily="18" charset="0"/>
              </a:rPr>
              <a:t>: date of the order </a:t>
            </a:r>
          </a:p>
          <a:p>
            <a:endParaRPr lang="en-GB" sz="2400" dirty="0">
              <a:latin typeface="Times New Roman" panose="02020603050405020304" pitchFamily="18" charset="0"/>
              <a:cs typeface="Times New Roman" panose="02020603050405020304" pitchFamily="18" charset="0"/>
            </a:endParaRPr>
          </a:p>
          <a:p>
            <a:r>
              <a:rPr lang="en-GB" sz="2400" dirty="0" err="1">
                <a:latin typeface="Times New Roman" panose="02020603050405020304" pitchFamily="18" charset="0"/>
                <a:cs typeface="Times New Roman" panose="02020603050405020304" pitchFamily="18" charset="0"/>
              </a:rPr>
              <a:t>Order_Id</a:t>
            </a:r>
            <a:r>
              <a:rPr lang="en-GB" sz="2400" dirty="0">
                <a:latin typeface="Times New Roman" panose="02020603050405020304" pitchFamily="18" charset="0"/>
                <a:cs typeface="Times New Roman" panose="02020603050405020304" pitchFamily="18" charset="0"/>
              </a:rPr>
              <a:t>: unique identifier for each order </a:t>
            </a:r>
          </a:p>
          <a:p>
            <a:endParaRPr lang="en-GB" sz="2400" dirty="0">
              <a:latin typeface="Times New Roman" panose="02020603050405020304" pitchFamily="18" charset="0"/>
              <a:cs typeface="Times New Roman" panose="02020603050405020304" pitchFamily="18" charset="0"/>
            </a:endParaRPr>
          </a:p>
          <a:p>
            <a:r>
              <a:rPr lang="en-GB" sz="2400" dirty="0">
                <a:latin typeface="Times New Roman" panose="02020603050405020304" pitchFamily="18" charset="0"/>
                <a:cs typeface="Times New Roman" panose="02020603050405020304" pitchFamily="18" charset="0"/>
              </a:rPr>
              <a:t>Cost: cost of the products sold </a:t>
            </a:r>
          </a:p>
          <a:p>
            <a:endParaRPr lang="en-GB" sz="2400" dirty="0">
              <a:latin typeface="Times New Roman" panose="02020603050405020304" pitchFamily="18" charset="0"/>
              <a:cs typeface="Times New Roman" panose="02020603050405020304" pitchFamily="18" charset="0"/>
            </a:endParaRPr>
          </a:p>
          <a:p>
            <a:r>
              <a:rPr lang="en-GB" sz="2400" dirty="0">
                <a:latin typeface="Times New Roman" panose="02020603050405020304" pitchFamily="18" charset="0"/>
                <a:cs typeface="Times New Roman" panose="02020603050405020304" pitchFamily="18" charset="0"/>
              </a:rPr>
              <a:t>Region: geographical location of the sales</a:t>
            </a:r>
          </a:p>
          <a:p>
            <a:endParaRPr lang="en-GB" sz="2400" dirty="0">
              <a:latin typeface="Times New Roman" panose="02020603050405020304" pitchFamily="18" charset="0"/>
              <a:cs typeface="Times New Roman" panose="02020603050405020304" pitchFamily="18" charset="0"/>
            </a:endParaRPr>
          </a:p>
          <a:p>
            <a:r>
              <a:rPr lang="en-GB" sz="2400" dirty="0">
                <a:latin typeface="Times New Roman" panose="02020603050405020304" pitchFamily="18" charset="0"/>
                <a:cs typeface="Times New Roman" panose="02020603050405020304" pitchFamily="18" charset="0"/>
              </a:rPr>
              <a:t>Discount: discount applied to the order </a:t>
            </a:r>
          </a:p>
        </p:txBody>
      </p:sp>
    </p:spTree>
    <p:extLst>
      <p:ext uri="{BB962C8B-B14F-4D97-AF65-F5344CB8AC3E}">
        <p14:creationId xmlns:p14="http://schemas.microsoft.com/office/powerpoint/2010/main" val="23817448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pic>
        <p:nvPicPr>
          <p:cNvPr id="5" name="Picture 4" descr="A screenshot of a computer&#10;&#10;Description automatically generated">
            <a:extLst>
              <a:ext uri="{FF2B5EF4-FFF2-40B4-BE49-F238E27FC236}">
                <a16:creationId xmlns:a16="http://schemas.microsoft.com/office/drawing/2014/main" id="{91602FE1-7D37-7636-14CC-7B00FEF39B0C}"/>
              </a:ext>
            </a:extLst>
          </p:cNvPr>
          <p:cNvPicPr>
            <a:picLocks noChangeAspect="1"/>
          </p:cNvPicPr>
          <p:nvPr/>
        </p:nvPicPr>
        <p:blipFill>
          <a:blip r:embed="rId2">
            <a:extLst>
              <a:ext uri="{28A0092B-C50C-407E-A947-70E740481C1C}">
                <a14:useLocalDpi xmlns:a14="http://schemas.microsoft.com/office/drawing/2010/main" val="0"/>
              </a:ext>
            </a:extLst>
          </a:blip>
          <a:srcRect r="5797" b="-1"/>
          <a:stretch>
            <a:fillRect/>
          </a:stretch>
        </p:blipFill>
        <p:spPr>
          <a:xfrm>
            <a:off x="991625" y="1446552"/>
            <a:ext cx="4929216" cy="3837562"/>
          </a:xfrm>
          <a:prstGeom prst="rect">
            <a:avLst/>
          </a:prstGeom>
        </p:spPr>
      </p:pic>
      <p:cxnSp>
        <p:nvCxnSpPr>
          <p:cNvPr id="43" name="Straight Connector 21">
            <a:extLst>
              <a:ext uri="{FF2B5EF4-FFF2-40B4-BE49-F238E27FC236}">
                <a16:creationId xmlns:a16="http://schemas.microsoft.com/office/drawing/2014/main" id="{4D56677B-C0B7-4DAC-ACAD-8054FF1B599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096000" y="1573887"/>
            <a:ext cx="0" cy="3710227"/>
          </a:xfrm>
          <a:prstGeom prst="line">
            <a:avLst/>
          </a:prstGeom>
          <a:ln w="19050">
            <a:solidFill>
              <a:srgbClr val="212DFE"/>
            </a:solidFill>
          </a:ln>
        </p:spPr>
        <p:style>
          <a:lnRef idx="1">
            <a:schemeClr val="accent1"/>
          </a:lnRef>
          <a:fillRef idx="0">
            <a:schemeClr val="accent1"/>
          </a:fillRef>
          <a:effectRef idx="0">
            <a:schemeClr val="accent1"/>
          </a:effectRef>
          <a:fontRef idx="minor">
            <a:schemeClr val="tx1"/>
          </a:fontRef>
        </p:style>
      </p:cxnSp>
      <p:pic>
        <p:nvPicPr>
          <p:cNvPr id="7" name="Picture 6" descr="A screenshot of a computer&#10;&#10;Description automatically generated">
            <a:extLst>
              <a:ext uri="{FF2B5EF4-FFF2-40B4-BE49-F238E27FC236}">
                <a16:creationId xmlns:a16="http://schemas.microsoft.com/office/drawing/2014/main" id="{C68D9D7D-B298-EF41-D971-746689E6DC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71160" y="1510219"/>
            <a:ext cx="5034291" cy="3710227"/>
          </a:xfrm>
          <a:prstGeom prst="rect">
            <a:avLst/>
          </a:prstGeom>
        </p:spPr>
      </p:pic>
      <p:sp>
        <p:nvSpPr>
          <p:cNvPr id="8" name="TextBox 7">
            <a:extLst>
              <a:ext uri="{FF2B5EF4-FFF2-40B4-BE49-F238E27FC236}">
                <a16:creationId xmlns:a16="http://schemas.microsoft.com/office/drawing/2014/main" id="{BA0174C8-538D-623D-92C0-78033432DCEF}"/>
              </a:ext>
            </a:extLst>
          </p:cNvPr>
          <p:cNvSpPr txBox="1"/>
          <p:nvPr/>
        </p:nvSpPr>
        <p:spPr>
          <a:xfrm>
            <a:off x="991625" y="4549676"/>
            <a:ext cx="184731" cy="923330"/>
          </a:xfrm>
          <a:prstGeom prst="rect">
            <a:avLst/>
          </a:prstGeom>
          <a:noFill/>
        </p:spPr>
        <p:txBody>
          <a:bodyPr wrap="none" rtlCol="0">
            <a:spAutoFit/>
          </a:bodyPr>
          <a:lstStyle/>
          <a:p>
            <a:endParaRPr lang="en-GB" dirty="0"/>
          </a:p>
          <a:p>
            <a:endParaRPr lang="en-GB" dirty="0"/>
          </a:p>
          <a:p>
            <a:endParaRPr lang="en-GB" dirty="0"/>
          </a:p>
        </p:txBody>
      </p:sp>
    </p:spTree>
    <p:extLst>
      <p:ext uri="{BB962C8B-B14F-4D97-AF65-F5344CB8AC3E}">
        <p14:creationId xmlns:p14="http://schemas.microsoft.com/office/powerpoint/2010/main" val="32847627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85194D-7DD4-43A5-80A3-8762931F22FD}"/>
              </a:ext>
            </a:extLst>
          </p:cNvPr>
          <p:cNvSpPr txBox="1"/>
          <p:nvPr/>
        </p:nvSpPr>
        <p:spPr>
          <a:xfrm>
            <a:off x="372382" y="464695"/>
            <a:ext cx="11463587" cy="3139321"/>
          </a:xfrm>
          <a:prstGeom prst="rect">
            <a:avLst/>
          </a:prstGeom>
          <a:noFill/>
        </p:spPr>
        <p:txBody>
          <a:bodyPr wrap="none" rtlCol="0">
            <a:spAutoFit/>
          </a:bodyPr>
          <a:lstStyle/>
          <a:p>
            <a:r>
              <a:rPr lang="en-GB" b="1" dirty="0"/>
              <a:t>First issue</a:t>
            </a:r>
            <a:r>
              <a:rPr lang="en-GB" dirty="0"/>
              <a:t>: The </a:t>
            </a:r>
            <a:r>
              <a:rPr lang="en-GB" dirty="0" err="1"/>
              <a:t>unit_cost</a:t>
            </a:r>
            <a:r>
              <a:rPr lang="en-GB" dirty="0"/>
              <a:t> was imported without been rounded unlike the </a:t>
            </a:r>
            <a:r>
              <a:rPr lang="en-GB" dirty="0" err="1"/>
              <a:t>unit_price</a:t>
            </a:r>
            <a:r>
              <a:rPr lang="en-GB" dirty="0"/>
              <a:t> which can pose as an issue later and</a:t>
            </a:r>
          </a:p>
          <a:p>
            <a:r>
              <a:rPr lang="en-GB" dirty="0"/>
              <a:t>is inconsistent with currency standards, also is not realistic for financial reporting.</a:t>
            </a:r>
          </a:p>
          <a:p>
            <a:endParaRPr lang="en-GB" dirty="0"/>
          </a:p>
          <a:p>
            <a:r>
              <a:rPr lang="en-GB" b="1" dirty="0"/>
              <a:t>Decision</a:t>
            </a:r>
            <a:r>
              <a:rPr lang="en-GB" dirty="0"/>
              <a:t>: Rounded the </a:t>
            </a:r>
            <a:r>
              <a:rPr lang="en-GB" dirty="0" err="1"/>
              <a:t>unit_cost</a:t>
            </a:r>
            <a:r>
              <a:rPr lang="en-GB" dirty="0"/>
              <a:t> to two decimal place. </a:t>
            </a:r>
          </a:p>
          <a:p>
            <a:endParaRPr lang="en-GB" dirty="0"/>
          </a:p>
          <a:p>
            <a:r>
              <a:rPr lang="en-GB" b="1" dirty="0"/>
              <a:t>Second issue</a:t>
            </a:r>
            <a:r>
              <a:rPr lang="en-GB" dirty="0"/>
              <a:t>: Checked for duplicate records by attempting to remove duplicate across key columns.</a:t>
            </a:r>
          </a:p>
          <a:p>
            <a:r>
              <a:rPr lang="en-GB" b="1" u="sng" dirty="0"/>
              <a:t>Observation</a:t>
            </a:r>
            <a:r>
              <a:rPr lang="en-GB" u="sng" dirty="0"/>
              <a:t>; </a:t>
            </a:r>
          </a:p>
          <a:p>
            <a:r>
              <a:rPr lang="en-GB" dirty="0"/>
              <a:t>Removing duplicates on single columns such as </a:t>
            </a:r>
            <a:r>
              <a:rPr lang="en-GB" dirty="0" err="1"/>
              <a:t>shipmode</a:t>
            </a:r>
            <a:r>
              <a:rPr lang="en-GB" dirty="0"/>
              <a:t> and </a:t>
            </a:r>
            <a:r>
              <a:rPr lang="en-GB" dirty="0" err="1"/>
              <a:t>order_date</a:t>
            </a:r>
            <a:r>
              <a:rPr lang="en-GB" dirty="0"/>
              <a:t> reduced row counts, but this was expected as </a:t>
            </a:r>
          </a:p>
          <a:p>
            <a:r>
              <a:rPr lang="en-GB" dirty="0"/>
              <a:t>Multiple transactions can share the same mode or </a:t>
            </a:r>
            <a:r>
              <a:rPr lang="en-GB" dirty="0" err="1"/>
              <a:t>order_date</a:t>
            </a:r>
            <a:r>
              <a:rPr lang="en-GB" dirty="0"/>
              <a:t>.</a:t>
            </a:r>
          </a:p>
          <a:p>
            <a:endParaRPr lang="en-GB" dirty="0"/>
          </a:p>
          <a:p>
            <a:r>
              <a:rPr lang="en-GB" b="1" dirty="0"/>
              <a:t>Decision</a:t>
            </a:r>
            <a:r>
              <a:rPr lang="en-GB" dirty="0"/>
              <a:t>: No duplicate rows were found when checking across all columns. Therefore, no records were removed.</a:t>
            </a:r>
          </a:p>
        </p:txBody>
      </p:sp>
    </p:spTree>
    <p:extLst>
      <p:ext uri="{BB962C8B-B14F-4D97-AF65-F5344CB8AC3E}">
        <p14:creationId xmlns:p14="http://schemas.microsoft.com/office/powerpoint/2010/main" val="18069492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7AF5BFD3-3B74-5DAD-DED1-89DE8FA353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0221" y="643466"/>
            <a:ext cx="10611557" cy="5571067"/>
          </a:xfrm>
          <a:prstGeom prst="rect">
            <a:avLst/>
          </a:prstGeom>
        </p:spPr>
      </p:pic>
    </p:spTree>
    <p:extLst>
      <p:ext uri="{BB962C8B-B14F-4D97-AF65-F5344CB8AC3E}">
        <p14:creationId xmlns:p14="http://schemas.microsoft.com/office/powerpoint/2010/main" val="29024734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E3087E0-6DBD-FB7E-9022-A7472621CB8B}"/>
              </a:ext>
            </a:extLst>
          </p:cNvPr>
          <p:cNvSpPr txBox="1"/>
          <p:nvPr/>
        </p:nvSpPr>
        <p:spPr>
          <a:xfrm>
            <a:off x="564629" y="329783"/>
            <a:ext cx="11062742" cy="7602081"/>
          </a:xfrm>
          <a:prstGeom prst="rect">
            <a:avLst/>
          </a:prstGeom>
          <a:noFill/>
        </p:spPr>
        <p:txBody>
          <a:bodyPr wrap="square" rtlCol="0">
            <a:spAutoFit/>
          </a:bodyPr>
          <a:lstStyle/>
          <a:p>
            <a:r>
              <a:rPr lang="en-GB" sz="2000" b="1" dirty="0"/>
              <a:t>The six measures I created are;</a:t>
            </a:r>
          </a:p>
          <a:p>
            <a:pPr marL="285750" indent="-285750">
              <a:buFont typeface="Wingdings" panose="05000000000000000000" pitchFamily="2" charset="2"/>
              <a:buChar char="Ø"/>
            </a:pPr>
            <a:r>
              <a:rPr lang="en-GB" dirty="0"/>
              <a:t>Total revenue</a:t>
            </a:r>
          </a:p>
          <a:p>
            <a:pPr marL="285750" indent="-285750">
              <a:buFont typeface="Wingdings" panose="05000000000000000000" pitchFamily="2" charset="2"/>
              <a:buChar char="Ø"/>
            </a:pPr>
            <a:r>
              <a:rPr lang="en-GB" dirty="0"/>
              <a:t>Total cost</a:t>
            </a:r>
          </a:p>
          <a:p>
            <a:pPr marL="285750" indent="-285750">
              <a:buFont typeface="Wingdings" panose="05000000000000000000" pitchFamily="2" charset="2"/>
              <a:buChar char="Ø"/>
            </a:pPr>
            <a:r>
              <a:rPr lang="en-GB" dirty="0"/>
              <a:t>Total profit</a:t>
            </a:r>
          </a:p>
          <a:p>
            <a:pPr marL="285750" indent="-285750">
              <a:buFont typeface="Wingdings" panose="05000000000000000000" pitchFamily="2" charset="2"/>
              <a:buChar char="Ø"/>
            </a:pPr>
            <a:r>
              <a:rPr lang="en-GB" dirty="0"/>
              <a:t>Total quantity</a:t>
            </a:r>
          </a:p>
          <a:p>
            <a:pPr marL="285750" indent="-285750">
              <a:buFont typeface="Wingdings" panose="05000000000000000000" pitchFamily="2" charset="2"/>
              <a:buChar char="Ø"/>
            </a:pPr>
            <a:r>
              <a:rPr lang="en-GB" dirty="0"/>
              <a:t>Profit margin %</a:t>
            </a:r>
          </a:p>
          <a:p>
            <a:pPr marL="285750" indent="-285750">
              <a:buFont typeface="Wingdings" panose="05000000000000000000" pitchFamily="2" charset="2"/>
              <a:buChar char="Ø"/>
            </a:pPr>
            <a:r>
              <a:rPr lang="en-GB" dirty="0"/>
              <a:t>Number of orders </a:t>
            </a:r>
          </a:p>
          <a:p>
            <a:pPr marL="285750" indent="-285750">
              <a:buFont typeface="Wingdings" panose="05000000000000000000" pitchFamily="2" charset="2"/>
              <a:buChar char="Ø"/>
            </a:pPr>
            <a:endParaRPr lang="en-GB" dirty="0"/>
          </a:p>
          <a:p>
            <a:r>
              <a:rPr lang="en-GB" b="1" dirty="0"/>
              <a:t>Total Revenue  </a:t>
            </a:r>
            <a:r>
              <a:rPr lang="en-GB" dirty="0"/>
              <a:t>- calculates the total net sales generated by multiplying quantity and unit price for each transaction and adjusting for discount. The SUMX function iterates through each row to commute revenue after discount, ensuring accurate aggregation of sales performance. </a:t>
            </a:r>
          </a:p>
          <a:p>
            <a:endParaRPr lang="en-GB" dirty="0"/>
          </a:p>
          <a:p>
            <a:r>
              <a:rPr lang="en-GB" b="1" dirty="0"/>
              <a:t>Total Cost </a:t>
            </a:r>
            <a:r>
              <a:rPr lang="en-GB" dirty="0"/>
              <a:t>– calculates the total cost by multiplying the quantity sold by the unit cost for each transaction and aggregating the results across the dataset.</a:t>
            </a:r>
          </a:p>
          <a:p>
            <a:endParaRPr lang="en-GB" dirty="0"/>
          </a:p>
          <a:p>
            <a:r>
              <a:rPr lang="en-GB" b="1" dirty="0"/>
              <a:t>Total profit </a:t>
            </a:r>
            <a:r>
              <a:rPr lang="en-GB" dirty="0"/>
              <a:t>– This measures overall profitability by subtracting Total cost from Total Revenue, providing a clear view of financial performance. </a:t>
            </a:r>
          </a:p>
          <a:p>
            <a:endParaRPr lang="en-GB" dirty="0"/>
          </a:p>
          <a:p>
            <a:r>
              <a:rPr lang="en-GB" b="1" dirty="0"/>
              <a:t>Total Quantity </a:t>
            </a:r>
            <a:r>
              <a:rPr lang="en-GB" dirty="0"/>
              <a:t>– represents the total number of units sold, calculated using SUM function on the Quantity column</a:t>
            </a:r>
          </a:p>
          <a:p>
            <a:endParaRPr lang="en-GB" dirty="0"/>
          </a:p>
          <a:p>
            <a:r>
              <a:rPr lang="en-GB" b="1" dirty="0"/>
              <a:t>Profit Margin% </a:t>
            </a:r>
            <a:r>
              <a:rPr lang="en-GB" dirty="0"/>
              <a:t>- Profit margin measures profitability efficiency by dividing Total profit by Total revenue and expressing the result as a percentage, with a conditional check to return blank when revenue is zero to avoid calculation errors. </a:t>
            </a:r>
          </a:p>
          <a:p>
            <a:endParaRPr lang="en-GB" dirty="0"/>
          </a:p>
          <a:p>
            <a:endParaRPr lang="en-GB" dirty="0"/>
          </a:p>
          <a:p>
            <a:endParaRPr lang="en-GB" dirty="0"/>
          </a:p>
          <a:p>
            <a:endParaRPr lang="en-GB" dirty="0"/>
          </a:p>
        </p:txBody>
      </p:sp>
    </p:spTree>
    <p:extLst>
      <p:ext uri="{BB962C8B-B14F-4D97-AF65-F5344CB8AC3E}">
        <p14:creationId xmlns:p14="http://schemas.microsoft.com/office/powerpoint/2010/main" val="15794477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99B528A-4F80-5F6D-CA98-3B7A2132F763}"/>
              </a:ext>
            </a:extLst>
          </p:cNvPr>
          <p:cNvSpPr txBox="1"/>
          <p:nvPr/>
        </p:nvSpPr>
        <p:spPr>
          <a:xfrm>
            <a:off x="669561" y="464695"/>
            <a:ext cx="10852878" cy="646331"/>
          </a:xfrm>
          <a:prstGeom prst="rect">
            <a:avLst/>
          </a:prstGeom>
          <a:noFill/>
        </p:spPr>
        <p:txBody>
          <a:bodyPr wrap="square" rtlCol="0">
            <a:spAutoFit/>
          </a:bodyPr>
          <a:lstStyle/>
          <a:p>
            <a:r>
              <a:rPr lang="en-GB" b="1" dirty="0"/>
              <a:t>Number of Orders </a:t>
            </a:r>
            <a:r>
              <a:rPr lang="en-GB" dirty="0"/>
              <a:t>– Calculates the Total number of unique transactions using the DISTINCTCOUNT Function on the Order ID field. </a:t>
            </a:r>
          </a:p>
        </p:txBody>
      </p:sp>
    </p:spTree>
    <p:extLst>
      <p:ext uri="{BB962C8B-B14F-4D97-AF65-F5344CB8AC3E}">
        <p14:creationId xmlns:p14="http://schemas.microsoft.com/office/powerpoint/2010/main" val="1321698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screenshot of a computer&#10;&#10;Description automatically generated">
            <a:extLst>
              <a:ext uri="{FF2B5EF4-FFF2-40B4-BE49-F238E27FC236}">
                <a16:creationId xmlns:a16="http://schemas.microsoft.com/office/drawing/2014/main" id="{B38CAD79-E2B0-A45F-11A3-2CA14847F9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a:ln>
            <a:noFill/>
          </a:ln>
          <a:effectLst>
            <a:outerShdw blurRad="190500" algn="tl" rotWithShape="0">
              <a:srgbClr val="000000">
                <a:alpha val="70000"/>
              </a:srgbClr>
            </a:outerShdw>
          </a:effectLst>
        </p:spPr>
      </p:pic>
    </p:spTree>
    <p:extLst>
      <p:ext uri="{BB962C8B-B14F-4D97-AF65-F5344CB8AC3E}">
        <p14:creationId xmlns:p14="http://schemas.microsoft.com/office/powerpoint/2010/main" val="9219798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F29D440-EBE4-32C9-B785-6933A274C2A4}"/>
              </a:ext>
            </a:extLst>
          </p:cNvPr>
          <p:cNvSpPr txBox="1"/>
          <p:nvPr/>
        </p:nvSpPr>
        <p:spPr>
          <a:xfrm>
            <a:off x="689548" y="554636"/>
            <a:ext cx="10672996" cy="5355312"/>
          </a:xfrm>
          <a:prstGeom prst="rect">
            <a:avLst/>
          </a:prstGeom>
          <a:noFill/>
        </p:spPr>
        <p:txBody>
          <a:bodyPr wrap="square" rtlCol="0">
            <a:spAutoFit/>
          </a:bodyPr>
          <a:lstStyle/>
          <a:p>
            <a:r>
              <a:rPr lang="en-GB" b="1" dirty="0"/>
              <a:t>Key Business insights for Senior Management</a:t>
            </a:r>
          </a:p>
          <a:p>
            <a:endParaRPr lang="en-GB" b="1" dirty="0"/>
          </a:p>
          <a:p>
            <a:pPr marL="285750" indent="-285750">
              <a:buFont typeface="Wingdings" panose="05000000000000000000" pitchFamily="2" charset="2"/>
              <a:buChar char="v"/>
            </a:pPr>
            <a:r>
              <a:rPr lang="en-GB" dirty="0"/>
              <a:t>The business is performing profitably with a healthy 25% profit margin, indicating efficient cost management and strong revenue generation.</a:t>
            </a:r>
          </a:p>
          <a:p>
            <a:pPr marL="285750" indent="-285750">
              <a:buFont typeface="Wingdings" panose="05000000000000000000" pitchFamily="2" charset="2"/>
              <a:buChar char="v"/>
            </a:pPr>
            <a:endParaRPr lang="en-GB" b="1" dirty="0"/>
          </a:p>
          <a:p>
            <a:pPr marL="285750" indent="-285750">
              <a:buFont typeface="Wingdings" panose="05000000000000000000" pitchFamily="2" charset="2"/>
              <a:buChar char="v"/>
            </a:pPr>
            <a:r>
              <a:rPr lang="en-GB" b="1" dirty="0"/>
              <a:t> </a:t>
            </a:r>
            <a:r>
              <a:rPr lang="en-GB" dirty="0"/>
              <a:t>The technology category is the primary profit driver and should be prioritized for investment, marketing and product expansion.</a:t>
            </a:r>
            <a:r>
              <a:rPr lang="en-GB" b="1" dirty="0"/>
              <a:t> </a:t>
            </a:r>
          </a:p>
          <a:p>
            <a:pPr marL="285750" indent="-285750">
              <a:buFont typeface="Wingdings" panose="05000000000000000000" pitchFamily="2" charset="2"/>
              <a:buChar char="v"/>
            </a:pPr>
            <a:endParaRPr lang="en-GB" b="1" dirty="0"/>
          </a:p>
          <a:p>
            <a:pPr marL="285750" indent="-285750">
              <a:buFont typeface="Wingdings" panose="05000000000000000000" pitchFamily="2" charset="2"/>
              <a:buChar char="v"/>
            </a:pPr>
            <a:r>
              <a:rPr lang="en-GB" b="1" dirty="0"/>
              <a:t> </a:t>
            </a:r>
            <a:r>
              <a:rPr lang="en-GB" dirty="0"/>
              <a:t>Revenue performance varies significantly by region, suggesting opportunities to investigate underperforming regions and replicate strategies from high-performing markets. </a:t>
            </a:r>
          </a:p>
          <a:p>
            <a:pPr marL="285750" indent="-285750">
              <a:buFont typeface="Wingdings" panose="05000000000000000000" pitchFamily="2" charset="2"/>
              <a:buChar char="v"/>
            </a:pPr>
            <a:endParaRPr lang="en-GB" dirty="0"/>
          </a:p>
          <a:p>
            <a:pPr marL="285750" indent="-285750">
              <a:buFont typeface="Wingdings" panose="05000000000000000000" pitchFamily="2" charset="2"/>
              <a:buChar char="v"/>
            </a:pPr>
            <a:r>
              <a:rPr lang="en-GB" dirty="0"/>
              <a:t> Revenue trends fluctuate over time, indicating possible seasonality or inconsistent sales performance that may require demand forecasting and promotional planning. </a:t>
            </a:r>
          </a:p>
          <a:p>
            <a:pPr marL="285750" indent="-285750">
              <a:buFont typeface="Wingdings" panose="05000000000000000000" pitchFamily="2" charset="2"/>
              <a:buChar char="v"/>
            </a:pPr>
            <a:endParaRPr lang="en-GB" dirty="0"/>
          </a:p>
          <a:p>
            <a:pPr marL="285750" indent="-285750">
              <a:buFont typeface="Wingdings" panose="05000000000000000000" pitchFamily="2" charset="2"/>
              <a:buChar char="v"/>
            </a:pPr>
            <a:r>
              <a:rPr lang="en-GB" dirty="0"/>
              <a:t> Furniture should be investigated further as it appears to generate lower profit compared to technology and office supplies, suggesting margin pressure. </a:t>
            </a:r>
          </a:p>
          <a:p>
            <a:pPr marL="285750" indent="-285750">
              <a:buFont typeface="Wingdings" panose="05000000000000000000" pitchFamily="2" charset="2"/>
              <a:buChar char="v"/>
            </a:pPr>
            <a:endParaRPr lang="en-GB" b="1" dirty="0"/>
          </a:p>
          <a:p>
            <a:endParaRPr lang="en-GB" b="1" dirty="0"/>
          </a:p>
          <a:p>
            <a:pPr marL="285750" indent="-285750">
              <a:buFont typeface="Wingdings" panose="05000000000000000000" pitchFamily="2" charset="2"/>
              <a:buChar char="v"/>
            </a:pPr>
            <a:endParaRPr lang="en-GB" dirty="0"/>
          </a:p>
        </p:txBody>
      </p:sp>
    </p:spTree>
    <p:extLst>
      <p:ext uri="{BB962C8B-B14F-4D97-AF65-F5344CB8AC3E}">
        <p14:creationId xmlns:p14="http://schemas.microsoft.com/office/powerpoint/2010/main" val="6042960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C54CA5E-7E59-820C-42C0-40FF4E47777B}"/>
              </a:ext>
            </a:extLst>
          </p:cNvPr>
          <p:cNvPicPr>
            <a:picLocks noChangeAspect="1"/>
          </p:cNvPicPr>
          <p:nvPr/>
        </p:nvPicPr>
        <p:blipFill>
          <a:blip r:embed="rId2"/>
          <a:stretch>
            <a:fillRect/>
          </a:stretch>
        </p:blipFill>
        <p:spPr>
          <a:xfrm>
            <a:off x="6091237" y="3424237"/>
            <a:ext cx="9526" cy="9526"/>
          </a:xfrm>
          <a:prstGeom prst="rect">
            <a:avLst/>
          </a:prstGeom>
        </p:spPr>
      </p:pic>
      <p:pic>
        <p:nvPicPr>
          <p:cNvPr id="5" name="Picture 4" descr="A screenshot of a computer&#10;&#10;Description automatically generated">
            <a:extLst>
              <a:ext uri="{FF2B5EF4-FFF2-40B4-BE49-F238E27FC236}">
                <a16:creationId xmlns:a16="http://schemas.microsoft.com/office/drawing/2014/main" id="{91772626-FB10-744F-799C-612AD39D357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84131"/>
            <a:ext cx="12192000" cy="6289738"/>
          </a:xfrm>
          <a:prstGeom prst="rect">
            <a:avLst/>
          </a:prstGeom>
        </p:spPr>
      </p:pic>
    </p:spTree>
    <p:extLst>
      <p:ext uri="{BB962C8B-B14F-4D97-AF65-F5344CB8AC3E}">
        <p14:creationId xmlns:p14="http://schemas.microsoft.com/office/powerpoint/2010/main" val="19987930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8FF9B8B-276F-62A8-4360-BB26B385807B}"/>
              </a:ext>
            </a:extLst>
          </p:cNvPr>
          <p:cNvSpPr txBox="1"/>
          <p:nvPr/>
        </p:nvSpPr>
        <p:spPr>
          <a:xfrm>
            <a:off x="869430" y="644577"/>
            <a:ext cx="10583055" cy="2954655"/>
          </a:xfrm>
          <a:prstGeom prst="rect">
            <a:avLst/>
          </a:prstGeom>
          <a:noFill/>
        </p:spPr>
        <p:txBody>
          <a:bodyPr wrap="square" rtlCol="0">
            <a:spAutoFit/>
          </a:bodyPr>
          <a:lstStyle/>
          <a:p>
            <a:r>
              <a:rPr lang="en-GB" sz="2400" b="1" dirty="0"/>
              <a:t>Recommendations</a:t>
            </a:r>
          </a:p>
          <a:p>
            <a:pPr marL="285750" indent="-285750">
              <a:buFont typeface="Wingdings" panose="05000000000000000000" pitchFamily="2" charset="2"/>
              <a:buChar char="v"/>
            </a:pPr>
            <a:r>
              <a:rPr lang="en-GB" b="1" dirty="0"/>
              <a:t> </a:t>
            </a:r>
            <a:r>
              <a:rPr lang="en-GB" dirty="0"/>
              <a:t>The 21-30% discount band requires further investigation as it generates significantly lower profit compared to lower discount levels </a:t>
            </a:r>
          </a:p>
          <a:p>
            <a:pPr marL="285750" indent="-285750">
              <a:buFont typeface="Wingdings" panose="05000000000000000000" pitchFamily="2" charset="2"/>
              <a:buChar char="v"/>
            </a:pPr>
            <a:endParaRPr lang="en-GB" b="1" dirty="0"/>
          </a:p>
          <a:p>
            <a:pPr marL="285750" indent="-285750">
              <a:buFont typeface="Wingdings" panose="05000000000000000000" pitchFamily="2" charset="2"/>
              <a:buChar char="v"/>
            </a:pPr>
            <a:r>
              <a:rPr lang="en-GB" b="1" dirty="0"/>
              <a:t> </a:t>
            </a:r>
            <a:r>
              <a:rPr lang="en-GB" dirty="0"/>
              <a:t>While there might not be any losses recorded yet, profit still shrinks with higher discounts. This suggests a risk threshold; Profitability may turn negative if discounts exceed 30%. </a:t>
            </a:r>
          </a:p>
          <a:p>
            <a:pPr marL="285750" indent="-285750">
              <a:buFont typeface="Wingdings" panose="05000000000000000000" pitchFamily="2" charset="2"/>
              <a:buChar char="v"/>
            </a:pPr>
            <a:endParaRPr lang="en-GB" b="1" dirty="0"/>
          </a:p>
          <a:p>
            <a:pPr marL="285750" indent="-285750">
              <a:buFont typeface="Wingdings" panose="05000000000000000000" pitchFamily="2" charset="2"/>
              <a:buChar char="v"/>
            </a:pPr>
            <a:r>
              <a:rPr lang="en-GB" b="1" dirty="0"/>
              <a:t> </a:t>
            </a:r>
            <a:r>
              <a:rPr lang="en-GB" dirty="0"/>
              <a:t>Profit declines sharply as discount levels increase. Discounts above 20% significantly reduce profitability, and 21-30% generates minimal profit. High discount strategies should be carefully controlled. </a:t>
            </a:r>
          </a:p>
          <a:p>
            <a:r>
              <a:rPr lang="en-GB" dirty="0"/>
              <a:t> </a:t>
            </a:r>
          </a:p>
        </p:txBody>
      </p:sp>
    </p:spTree>
    <p:extLst>
      <p:ext uri="{BB962C8B-B14F-4D97-AF65-F5344CB8AC3E}">
        <p14:creationId xmlns:p14="http://schemas.microsoft.com/office/powerpoint/2010/main" val="17883191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1CAC143-3E8C-2CCE-EF75-7867CECC0AB3}"/>
              </a:ext>
            </a:extLst>
          </p:cNvPr>
          <p:cNvSpPr txBox="1"/>
          <p:nvPr/>
        </p:nvSpPr>
        <p:spPr>
          <a:xfrm>
            <a:off x="659568" y="449705"/>
            <a:ext cx="10747948" cy="3877985"/>
          </a:xfrm>
          <a:prstGeom prst="rect">
            <a:avLst/>
          </a:prstGeom>
          <a:noFill/>
        </p:spPr>
        <p:txBody>
          <a:bodyPr wrap="square" rtlCol="0">
            <a:spAutoFit/>
          </a:bodyPr>
          <a:lstStyle/>
          <a:p>
            <a:r>
              <a:rPr lang="en-GB" sz="2400" b="1" dirty="0"/>
              <a:t>Limitations and next steps</a:t>
            </a:r>
          </a:p>
          <a:p>
            <a:r>
              <a:rPr lang="en-GB" dirty="0"/>
              <a:t>One limitation of this dashboard is that it focuses mainly on historical sales performance and does not include external factors such as customer demographics, market trends or competitor data. Additionally, the analysis is based on aggregated data, which may hide detailed transactional insights. The regional map also shows revenue distribution but does not explain the reasons behind regional performance differences.</a:t>
            </a:r>
          </a:p>
          <a:p>
            <a:endParaRPr lang="en-GB" dirty="0"/>
          </a:p>
          <a:p>
            <a:r>
              <a:rPr lang="en-GB" dirty="0"/>
              <a:t>As a next step, further analysis could be conducted to identity the causes of revenue fluctuations over time and investigate underperforming regions. Additional customer segmentation analysis could also be introduced to better understand buying behaviour. Furthermore, incorporating forecasting models would help predict future sales trends and support strategic decision-making. Finally, integrating more detailed cost analysis would improve profit optimisation insights. Lastly, conduct a detailed analysis of discount bands to evaluate their impact on profitability and ensure optimal pricing strategy.</a:t>
            </a:r>
            <a:endParaRPr lang="en-GB" sz="2400" b="1" dirty="0"/>
          </a:p>
          <a:p>
            <a:r>
              <a:rPr lang="en-GB" sz="2400" b="1" dirty="0"/>
              <a:t> </a:t>
            </a:r>
          </a:p>
        </p:txBody>
      </p:sp>
    </p:spTree>
    <p:extLst>
      <p:ext uri="{BB962C8B-B14F-4D97-AF65-F5344CB8AC3E}">
        <p14:creationId xmlns:p14="http://schemas.microsoft.com/office/powerpoint/2010/main" val="1333629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896</Words>
  <Application>Microsoft Office PowerPoint</Application>
  <PresentationFormat>Widescreen</PresentationFormat>
  <Paragraphs>79</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Calibri Light</vt:lpstr>
      <vt:lpstr>Times New Roman</vt:lpstr>
      <vt:lpstr>Wingdings</vt:lpstr>
      <vt:lpstr>Office Theme</vt:lpstr>
      <vt:lpstr>RETAIL SALES PERFORMANCE ANALYSIS: DISCOUNT IMPACT ON PROFITABILITY  </vt:lpstr>
      <vt:lpstr>PowerPoint Presentation</vt:lpstr>
      <vt:lpstr>   DATA OVERVIEW  Purpose: To analyse how discounts influence sales revenue and profitability in retail.  Size &amp; scope: Contains transactional data for products sold over a specific period.   Type of data: Mixed- numerical(sales, profit, discount), categorical(product, region), data/time(transactional data).   Source: Shared by examiner for the purpose of this project.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Ifeyinwa Ulasi</dc:creator>
  <cp:lastModifiedBy>Ifeyinwa Ulasi</cp:lastModifiedBy>
  <cp:revision>7</cp:revision>
  <dcterms:created xsi:type="dcterms:W3CDTF">2026-02-24T23:44:48Z</dcterms:created>
  <dcterms:modified xsi:type="dcterms:W3CDTF">2026-03-01T16:05:29Z</dcterms:modified>
</cp:coreProperties>
</file>